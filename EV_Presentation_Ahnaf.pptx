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14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551" y="676275"/>
            <a:ext cx="7048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 of EVs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8246" y="1895475"/>
            <a:ext cx="80675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Global Electric Vehicle Growth &amp; Underlying Factors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619500" y="2695575"/>
            <a:ext cx="1905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64888" y="3171825"/>
            <a:ext cx="2214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Ahnaf Masud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9307" y="3667125"/>
            <a:ext cx="2825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Schiller International University of Madrid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73273" y="4276725"/>
            <a:ext cx="2797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</a:t>
            </a:r>
            <a:r>
              <a:rPr lang="en-US" sz="105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Dhaval Gadariya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28600"/>
            <a:ext cx="45662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&amp; Goals of This Study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9100" y="914400"/>
            <a:ext cx="847191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Dataset?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19100" y="1203871"/>
            <a:ext cx="8305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is the global authority on energy data - trusted by governments worldwide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 of comprehensive coverage (2010-2024) across all major markets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indicators: stock, sales, infrastructure, policy, environmental impact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 under Creative Commons BY 4.0 license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" y="2518321"/>
            <a:ext cx="847191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Goals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19100" y="2807791"/>
            <a:ext cx="8305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growth patterns: linear vs exponential trends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key drivers: policy, infrastructure, technology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regression models to find best forecasting method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future growth through 2030 and validate against IEA projections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28600"/>
            <a:ext cx="42456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9100" y="914400"/>
            <a:ext cx="847191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Remove IEA Projections?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19100" y="1203871"/>
            <a:ext cx="8305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Training: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use ONLY historical data (2010-2024) to train our models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Bias: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on IEA projections would bias our model toward their estimates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Purpose: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Later we compare OUR forecast with IEA projections to validate accuracy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Rigor: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Independent modeling proves our approach works without knowing their methods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" y="2518321"/>
            <a:ext cx="847191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Steps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19100" y="2807791"/>
            <a:ext cx="8305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out all rows with category "Projection-STEPS"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only years ≤ 2024 (verified historical data)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duplicates and standardized column names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values to numeric for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28600"/>
            <a:ext cx="42456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Libraries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9100" y="914400"/>
            <a:ext cx="84719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&amp; Cleaning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9100" y="1173361"/>
            <a:ext cx="830580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manipulation, filtering, groupby aggregations, dataframe operations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Numerical computations, array operations, mathematical functions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" y="1859161"/>
            <a:ext cx="84719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Modeling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100" y="2118122"/>
            <a:ext cx="83058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LinearRegression, PolynomialFeatures, train_test_split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sklearn.metrics: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score, Mean Absolute Error (MAE), Root Mean Squared Error (RMSE)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Suppress non-critical warnings for cleaner output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3108722"/>
            <a:ext cx="84719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" y="3367683"/>
            <a:ext cx="830580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matplotlib.pyplot: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plotting library, figure creation, customization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Statistical visualizations, styling, correlation heatmaps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28600"/>
            <a:ext cx="42456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9100" y="914400"/>
            <a:ext cx="8305800" cy="3390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Transparency &amp; Attribution: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from IEA, used under Creative Commons BY 4.0 license with proper attribution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historical data used in analysis; all projection rows removed to ensure conclusions based on verified facts, not estimates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Awareness: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Careful not to double-count across overlapping categories (World vs regions vs countries)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Interpretation: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Regional differences contextualized by economic, technological, and infrastructural factors rather than framed as success/failure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contains only aggregated statistics at country/regional level - no personal or sensitive information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documentation of methodology, data sources, and analytical steps enables verification and replication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EV Stock Growth (2010-2024)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504825"/>
            <a:ext cx="1623120" cy="3810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Pattern: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45-fold increase demonstrates exponential S-curve adoption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Inflection Point: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2018 acceleration aligns with policy convergence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China NEV mandate, EU emissions targets, battery cost decline (-89%)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EV Sales Trajectory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Performance: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17+ million units, sustained compound growth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Evolution: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500+ models available (vs 50 in 2015)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Adoption: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consideration rate indicates mainstream acceptance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8286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Effectiveness: Comparative Analysis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Norway (92% share):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Demand-side fiscal incentives (tax exemptions $10k+)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(50%+ share):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Supply-side mandates (18% NEV requirement)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Validation: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approaches effective, design matters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Penetration Analysis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Penetration: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&lt;1% (2010) → 20%+ (2024)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Tipping Point: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10-15% threshold represents mainstream adoption per diffusion theory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metric normalizes for market size variations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Infrastructure-Adoption Correlation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r=0.997 demonstrates near-perfect relationship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$10B+ global public funding (EU €1B, China $2B, USA $7.5B)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Fast-charging capability (80% in 15min) reduces range anxiety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Powertrain Technology 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638175"/>
            <a:ext cx="1623120" cy="3543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Distribution: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BEV 70%, PHEV 30% and declining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Advantages: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Range parity (300-400mi), lower total cost of ownership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Selection: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preference for full electrification established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Methodology: Data Partitioning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638175"/>
            <a:ext cx="1623120" cy="3543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(2010-2020, 11 years)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20% (2021-2024, 4 years) - recent unseen data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overfitting, validates generalization capability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7120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Linear Regression: Baseline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638175"/>
            <a:ext cx="1623120" cy="3543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predictor (year), linear functional form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R²=0.9314, MAE=14.42M vehicles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capture exponential acceleration pattern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333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Regression: Optimal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638175"/>
            <a:ext cx="1623120" cy="3543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Degree 3 optimal (R²=0.9985, MAE=1.20M)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Cubic form captures acceleration without overfitting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performance on 2021-2024 test set confirms generalization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54115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Model Performance 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638175"/>
            <a:ext cx="1623120" cy="3543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Linear: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R²=0.9314, MAE=14.42M (insufficient)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Linear: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R²=0.9979, MAE=1.49M (improved)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Deg 3: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R²=0.9985, MAE=1.20M (optimal - selected)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245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Out-of-Sample Validation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Performance: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Polynomial Deg 3 closest to actual 2021-2024 values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Overfitting: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generalization on completely unseen data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Validates model specification and supports 2025-2030 forecast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4478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Results: 2025-2030 Projections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71475"/>
            <a:ext cx="1623120" cy="4076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Projection: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438M vehicles by 2030 (10-fold increase from 2024)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Projection: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78M annually by 2030 (4.6x current levels)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Continued policy support, technology trajectory, ±15% uncertainty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  <p:pic>
        <p:nvPicPr>
          <p:cNvPr id="5" name="Image 0" descr="report_unpacked/word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47650"/>
            <a:ext cx="5246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Validation: IEA Projection 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01780" y="369689"/>
            <a:ext cx="165558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Comparison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7101780" y="552450"/>
            <a:ext cx="1623120" cy="1676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analysis: 438M by 2030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STEPS: 250M by 2030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model 75% higher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01780" y="2324100"/>
            <a:ext cx="165558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Analysis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101780" y="2506861"/>
            <a:ext cx="1623120" cy="1943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Extrapolates 2018-24 acceleration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IEA: policy/supply uncertainty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valid, different assumptions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4552950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Source: Global EV Outlook 2025 - https://www.iea.org/reports/global-ev-outlook-2025</a:t>
            </a:r>
            <a:endParaRPr lang="en-US" sz="750" dirty="0"/>
          </a:p>
        </p:txBody>
      </p:sp>
      <p:pic>
        <p:nvPicPr>
          <p:cNvPr id="8" name="Image 0" descr="comparison_chart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-24705"/>
            <a:ext cx="6492180" cy="48690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28600"/>
            <a:ext cx="5246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Findings, Implications &amp; Limitations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9100" y="838200"/>
            <a:ext cx="8471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Implications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9100" y="1043880"/>
            <a:ext cx="83058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Growth: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45-fold increase validates S-curve adoption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transition irreversible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Effectiveness: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Norway (92%), China (50%) both work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pathways viable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(r=0.997):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Near-perfect correlation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 but not sufficient alone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Dominance (70%):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 resolved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can focus single pathway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Superior: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R²=0.9985 vs 0.9314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methods essential for forecasting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(438M vs 250M):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75% higher than IEA → </a:t>
            </a:r>
            <a:r>
              <a:rPr lang="en-US" sz="13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consistency critical for trajectory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" y="2948880"/>
            <a:ext cx="8471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Limitations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3154561"/>
            <a:ext cx="83058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aggregation masks regional variance; 15-year dataset limited for long-term cycles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Extrapolates acceleration; excludes recession, supply disruption, saturation scenarios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Policy reversals, technological disruptions (solid-state batteries), economic shocks not modeled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4552950"/>
            <a:ext cx="370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https://www.iea.org/data-and-statistics/data-tools/global-ev-data-explorer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872" y="1419225"/>
            <a:ext cx="8046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36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381375" y="2714625"/>
            <a:ext cx="238125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94265" y="3343275"/>
            <a:ext cx="17554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Macintosh PowerPoint</Application>
  <PresentationFormat>On-screen Show (16:9)</PresentationFormat>
  <Paragraphs>154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Electric Vehicles: Analysis and Forecasting</dc:title>
  <dc:subject>PptxGenJS Presentation</dc:subject>
  <dc:creator>Mohammad Ahnaf Masud</dc:creator>
  <cp:lastModifiedBy>Mohammad Ahnaf Masud</cp:lastModifiedBy>
  <cp:revision>2</cp:revision>
  <dcterms:created xsi:type="dcterms:W3CDTF">2026-01-20T10:59:16Z</dcterms:created>
  <dcterms:modified xsi:type="dcterms:W3CDTF">2026-01-20T11:07:11Z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2026-01-20T11:07:11Z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c641ff12-cae8-4961-b8d2-3d38f71cd4d8</vt:lpwstr>
  </property>
  <property fmtid="{D5CDD505-2E9C-101B-9397-08002B2CF9AE}" pid="7" name="MSIP_Label_defa4170-0d19-0005-0004-bc88714345d2_ActionId">
    <vt:lpwstr>7de82882-5b6d-4475-ba51-18be4ffae2bf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